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19" Type="http://schemas.openxmlformats.org/officeDocument/2006/relationships/font" Target="fonts/Lato-italic.fntdata"/><Relationship Id="rId6" Type="http://schemas.openxmlformats.org/officeDocument/2006/relationships/slide" Target="slides/slide2.xml"/><Relationship Id="rId18" Type="http://schemas.openxmlformats.org/officeDocument/2006/relationships/font" Target="fonts/La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16aa14ed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16aa14ed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16aa14edf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16aa14edf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16aa14edf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16aa14ed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16f6ffac2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16f6ffac2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16f6ffac2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16f6ffac2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16f6ffac2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16f6ffac2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16f6ffac2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16f6ffac2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4600"/>
              <a:t>Solving Problem with Metrics for Data Analyst</a:t>
            </a:r>
            <a:endParaRPr b="1" sz="46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000">
                <a:latin typeface="Montserrat"/>
                <a:ea typeface="Montserrat"/>
                <a:cs typeface="Montserrat"/>
                <a:sym typeface="Montserrat"/>
              </a:rPr>
              <a:t>By: Muhammad Mahardhika Herdiman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57500" y="2687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000"/>
              <a:t>Seoul Sweets </a:t>
            </a:r>
            <a:r>
              <a:rPr b="1" lang="id" sz="3000"/>
              <a:t>Problem Statement</a:t>
            </a:r>
            <a:endParaRPr b="1" sz="3000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57500" y="9599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id" sz="1315">
                <a:latin typeface="Montserrat"/>
                <a:ea typeface="Montserrat"/>
                <a:cs typeface="Montserrat"/>
                <a:sym typeface="Montserrat"/>
              </a:rPr>
              <a:t>Seoul Sweets recently launched an online platform and delivery service, but the company does not yet fully understand customer behavior when navigating their website.</a:t>
            </a:r>
            <a:endParaRPr sz="1315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id" sz="1315">
                <a:latin typeface="Montserrat"/>
                <a:ea typeface="Montserrat"/>
                <a:cs typeface="Montserrat"/>
                <a:sym typeface="Montserrat"/>
              </a:rPr>
              <a:t>Based on the activity data from the first 10 users, it was found that:</a:t>
            </a:r>
            <a:endParaRPr sz="1315">
              <a:latin typeface="Montserrat"/>
              <a:ea typeface="Montserrat"/>
              <a:cs typeface="Montserrat"/>
              <a:sym typeface="Montserrat"/>
            </a:endParaRPr>
          </a:p>
          <a:p>
            <a:pPr indent="-31210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15"/>
              <a:buFont typeface="Montserrat"/>
              <a:buChar char="●"/>
            </a:pPr>
            <a:r>
              <a:rPr lang="id" sz="1315">
                <a:latin typeface="Montserrat"/>
                <a:ea typeface="Montserrat"/>
                <a:cs typeface="Montserrat"/>
                <a:sym typeface="Montserrat"/>
              </a:rPr>
              <a:t>Many users viewed products, but not all completed the payment process.</a:t>
            </a:r>
            <a:endParaRPr sz="1315">
              <a:latin typeface="Montserrat"/>
              <a:ea typeface="Montserrat"/>
              <a:cs typeface="Montserrat"/>
              <a:sym typeface="Montserrat"/>
            </a:endParaRPr>
          </a:p>
          <a:p>
            <a:pPr indent="-31210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5"/>
              <a:buFont typeface="Montserrat"/>
              <a:buChar char="●"/>
            </a:pPr>
            <a:r>
              <a:rPr lang="id" sz="1315">
                <a:latin typeface="Montserrat"/>
                <a:ea typeface="Montserrat"/>
                <a:cs typeface="Montserrat"/>
                <a:sym typeface="Montserrat"/>
              </a:rPr>
              <a:t>There is a noticeable drop-off at each stage of the funnel.</a:t>
            </a:r>
            <a:endParaRPr sz="1315">
              <a:latin typeface="Montserrat"/>
              <a:ea typeface="Montserrat"/>
              <a:cs typeface="Montserrat"/>
              <a:sym typeface="Montserrat"/>
            </a:endParaRPr>
          </a:p>
          <a:p>
            <a:pPr indent="-31210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5"/>
              <a:buFont typeface="Montserrat"/>
              <a:buChar char="●"/>
            </a:pPr>
            <a:r>
              <a:rPr lang="id" sz="1315">
                <a:latin typeface="Montserrat"/>
                <a:ea typeface="Montserrat"/>
                <a:cs typeface="Montserrat"/>
                <a:sym typeface="Montserrat"/>
              </a:rPr>
              <a:t>The biggest drop occurs between the Delivery Info → Confirm Payment stages.</a:t>
            </a:r>
            <a:endParaRPr sz="1315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id" sz="1315">
                <a:latin typeface="Montserrat"/>
                <a:ea typeface="Montserrat"/>
                <a:cs typeface="Montserrat"/>
                <a:sym typeface="Montserrat"/>
              </a:rPr>
              <a:t>Main Problem:</a:t>
            </a:r>
            <a:endParaRPr sz="1315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id" sz="1315">
                <a:latin typeface="Montserrat"/>
                <a:ea typeface="Montserrat"/>
                <a:cs typeface="Montserrat"/>
                <a:sym typeface="Montserrat"/>
              </a:rPr>
              <a:t>The online purchase conversion rate is still low because many customers abandon the process before completing payment.</a:t>
            </a:r>
            <a:endParaRPr sz="1315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id" sz="1315">
                <a:latin typeface="Montserrat"/>
                <a:ea typeface="Montserrat"/>
                <a:cs typeface="Montserrat"/>
                <a:sym typeface="Montserrat"/>
              </a:rPr>
              <a:t>Business Impact:</a:t>
            </a:r>
            <a:endParaRPr sz="1315">
              <a:latin typeface="Montserrat"/>
              <a:ea typeface="Montserrat"/>
              <a:cs typeface="Montserrat"/>
              <a:sym typeface="Montserrat"/>
            </a:endParaRPr>
          </a:p>
          <a:p>
            <a:pPr indent="-31210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15"/>
              <a:buFont typeface="Montserrat"/>
              <a:buChar char="●"/>
            </a:pPr>
            <a:r>
              <a:rPr lang="id" sz="1315">
                <a:latin typeface="Montserrat"/>
                <a:ea typeface="Montserrat"/>
                <a:cs typeface="Montserrat"/>
                <a:sym typeface="Montserrat"/>
              </a:rPr>
              <a:t>Online sales are not fully optimized.</a:t>
            </a:r>
            <a:endParaRPr sz="1315">
              <a:latin typeface="Montserrat"/>
              <a:ea typeface="Montserrat"/>
              <a:cs typeface="Montserrat"/>
              <a:sym typeface="Montserrat"/>
            </a:endParaRPr>
          </a:p>
          <a:p>
            <a:pPr indent="-31210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5"/>
              <a:buFont typeface="Montserrat"/>
              <a:buChar char="●"/>
            </a:pPr>
            <a:r>
              <a:rPr lang="id" sz="1315">
                <a:latin typeface="Montserrat"/>
                <a:ea typeface="Montserrat"/>
                <a:cs typeface="Montserrat"/>
                <a:sym typeface="Montserrat"/>
              </a:rPr>
              <a:t>The customer journey is not efficient.</a:t>
            </a:r>
            <a:endParaRPr sz="1315">
              <a:latin typeface="Montserrat"/>
              <a:ea typeface="Montserrat"/>
              <a:cs typeface="Montserrat"/>
              <a:sym typeface="Montserrat"/>
            </a:endParaRPr>
          </a:p>
          <a:p>
            <a:pPr indent="-31210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5"/>
              <a:buFont typeface="Montserrat"/>
              <a:buChar char="●"/>
            </a:pPr>
            <a:r>
              <a:rPr lang="id" sz="1315">
                <a:latin typeface="Montserrat"/>
                <a:ea typeface="Montserrat"/>
                <a:cs typeface="Montserrat"/>
                <a:sym typeface="Montserrat"/>
              </a:rPr>
              <a:t>There is significant potential revenue loss.</a:t>
            </a:r>
            <a:endParaRPr sz="1315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50275" y="184775"/>
            <a:ext cx="8091600" cy="2734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000">
                <a:latin typeface="Montserrat"/>
                <a:ea typeface="Montserrat"/>
                <a:cs typeface="Montserrat"/>
                <a:sym typeface="Montserrat"/>
              </a:rPr>
              <a:t>Funnel Chart for Customer Journey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500">
                <a:latin typeface="Montserrat"/>
                <a:ea typeface="Montserrat"/>
                <a:cs typeface="Montserrat"/>
                <a:sym typeface="Montserrat"/>
              </a:rPr>
              <a:t>Step 1 — Create a Pivot Table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Rows → Stage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Values → Count of User ID → Sort by User → Sequence Downward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500">
                <a:latin typeface="Montserrat"/>
                <a:ea typeface="Montserrat"/>
                <a:cs typeface="Montserrat"/>
                <a:sym typeface="Montserrat"/>
              </a:rPr>
              <a:t>Step 2 </a:t>
            </a:r>
            <a:r>
              <a:rPr b="1" lang="id" sz="1500">
                <a:latin typeface="Montserrat"/>
                <a:ea typeface="Montserrat"/>
                <a:cs typeface="Montserrat"/>
                <a:sym typeface="Montserrat"/>
              </a:rPr>
              <a:t>— Insert The Funnel Visualization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→ Add an Empty Column between The Stage and User Columns titled Helper (B1)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→ in B2 use The Formula =(MAX(C2:C5)-C2)/2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→ Click AutoFill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→ Select the data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→ Click insert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→ Chart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→ Edit Chart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→ Bar Chart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→ Customize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→ Series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→ Change the Opacity Option in the Helper to 0%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→ Change to The User and click the Check on the Data Labels Box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→ Legend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→ Pick None on The Position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→ Gridlines and Ticks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→ Uncheck The Major Gridlines Box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12500" lvl="0" marL="360001" marR="44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5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id" sz="2278"/>
              <a:t>Funnel Chart of C</a:t>
            </a:r>
            <a:r>
              <a:rPr b="1" lang="id" sz="2278"/>
              <a:t>ustomer Journey Overview</a:t>
            </a:r>
            <a:endParaRPr b="1" sz="2278"/>
          </a:p>
        </p:txBody>
      </p:sp>
      <p:pic>
        <p:nvPicPr>
          <p:cNvPr id="152" name="Google Shape;152;p16"/>
          <p:cNvPicPr preferRelativeResize="0"/>
          <p:nvPr/>
        </p:nvPicPr>
        <p:blipFill rotWithShape="1">
          <a:blip r:embed="rId3">
            <a:alphaModFix/>
          </a:blip>
          <a:srcRect b="16902" l="0" r="0" t="0"/>
          <a:stretch/>
        </p:blipFill>
        <p:spPr>
          <a:xfrm>
            <a:off x="325675" y="1438600"/>
            <a:ext cx="2619375" cy="124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125" y="1438600"/>
            <a:ext cx="5731899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55850" y="12974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500">
                <a:latin typeface="Montserrat"/>
                <a:ea typeface="Montserrat"/>
                <a:cs typeface="Montserrat"/>
                <a:sym typeface="Montserrat"/>
              </a:rPr>
              <a:t>Biggest Drop-off: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From Delivery Info (7 users)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To Confirm Payment (3 users)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This indicates that many customers abandon the checkout process before making payment.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Possible Causes</a:t>
            </a:r>
            <a:r>
              <a:rPr lang="id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id" sz="1300">
                <a:latin typeface="Montserrat"/>
                <a:ea typeface="Montserrat"/>
                <a:cs typeface="Montserrat"/>
                <a:sym typeface="Montserrat"/>
              </a:rPr>
              <a:t>Delivery fees are too expensive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id" sz="1300">
                <a:latin typeface="Montserrat"/>
                <a:ea typeface="Montserrat"/>
                <a:cs typeface="Montserrat"/>
                <a:sym typeface="Montserrat"/>
              </a:rPr>
              <a:t>Limited payment methods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id" sz="1300">
                <a:latin typeface="Montserrat"/>
                <a:ea typeface="Montserrat"/>
                <a:cs typeface="Montserrat"/>
                <a:sym typeface="Montserrat"/>
              </a:rPr>
              <a:t>Complicated checkout process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id" sz="1300">
                <a:latin typeface="Montserrat"/>
                <a:ea typeface="Montserrat"/>
                <a:cs typeface="Montserrat"/>
                <a:sym typeface="Montserrat"/>
              </a:rPr>
              <a:t>Lack of trust in the platform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17"/>
          <p:cNvSpPr txBox="1"/>
          <p:nvPr>
            <p:ph type="title"/>
          </p:nvPr>
        </p:nvSpPr>
        <p:spPr>
          <a:xfrm>
            <a:off x="1255850" y="3833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id" sz="3000"/>
              <a:t>Funnel Insight</a:t>
            </a:r>
            <a:endParaRPr b="1" sz="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1255825" y="10849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SzPts val="605"/>
              <a:buNone/>
            </a:pPr>
            <a:r>
              <a:rPr b="1" lang="id" sz="1500">
                <a:latin typeface="Arial"/>
                <a:ea typeface="Arial"/>
                <a:cs typeface="Arial"/>
                <a:sym typeface="Arial"/>
              </a:rPr>
              <a:t>Checkout Conversion Rate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Formula: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Confirm Payment/Product View×100%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Calculation: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3/10×100%=30%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Result: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Conversion Rate = </a:t>
            </a:r>
            <a:r>
              <a:rPr b="1" lang="id">
                <a:latin typeface="Arial"/>
                <a:ea typeface="Arial"/>
                <a:cs typeface="Arial"/>
                <a:sym typeface="Arial"/>
              </a:rPr>
              <a:t>30%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This is considered an actionable metric because it can be improved by: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simplifying the checkout process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adding more payment methods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offering free delivery promotions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improving website UX/UI</a:t>
            </a:r>
            <a:endParaRPr/>
          </a:p>
        </p:txBody>
      </p:sp>
      <p:sp>
        <p:nvSpPr>
          <p:cNvPr id="165" name="Google Shape;165;p18"/>
          <p:cNvSpPr txBox="1"/>
          <p:nvPr>
            <p:ph type="title"/>
          </p:nvPr>
        </p:nvSpPr>
        <p:spPr>
          <a:xfrm>
            <a:off x="1255825" y="3416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id" sz="3000">
                <a:latin typeface="Arial"/>
                <a:ea typeface="Arial"/>
                <a:cs typeface="Arial"/>
                <a:sym typeface="Arial"/>
              </a:rPr>
              <a:t>Actionable Metric</a:t>
            </a:r>
            <a:endParaRPr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55850" y="3625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id" sz="3000">
                <a:latin typeface="Arial"/>
                <a:ea typeface="Arial"/>
                <a:cs typeface="Arial"/>
                <a:sym typeface="Arial"/>
              </a:rPr>
              <a:t>Vanity Metric</a:t>
            </a:r>
            <a:endParaRPr sz="3000"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55850" y="15363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id" sz="1500">
                <a:latin typeface="Arial"/>
                <a:ea typeface="Arial"/>
                <a:cs typeface="Arial"/>
                <a:sym typeface="Arial"/>
              </a:rPr>
              <a:t>Total Product Views = 10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Reason: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A high number of views does not necessarily generate sales.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It does not directly help decision-making for business improvement.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id" sz="3000">
                <a:latin typeface="Arial"/>
                <a:ea typeface="Arial"/>
                <a:cs typeface="Arial"/>
                <a:sym typeface="Arial"/>
              </a:rPr>
              <a:t>Opinion About the Customer Journey</a:t>
            </a:r>
            <a:endParaRPr sz="3000"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116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The customer journey at Seoul Sweets is fairly good in the early stages because: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90% of users added products to their cart.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This indicates that the products are attractive to customers.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However, the funnel is still ineffective at the final checkout stage because: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only 30% of users completed the payment process.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id">
                <a:latin typeface="Arial"/>
                <a:ea typeface="Arial"/>
                <a:cs typeface="Arial"/>
                <a:sym typeface="Arial"/>
              </a:rPr>
              <a:t>Conclusion: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Seoul Sweets has: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Strong </a:t>
            </a:r>
            <a:r>
              <a:rPr lang="id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id">
                <a:latin typeface="Arial"/>
                <a:ea typeface="Arial"/>
                <a:cs typeface="Arial"/>
                <a:sym typeface="Arial"/>
              </a:rPr>
              <a:t>roduct Attractiveness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But a weak Checkout Experience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id">
                <a:latin typeface="Arial"/>
                <a:ea typeface="Arial"/>
                <a:cs typeface="Arial"/>
                <a:sym typeface="Arial"/>
              </a:rPr>
              <a:t>Recommendations: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AutoNum type="arabicPeriod"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Simplify the checkout process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AutoNum type="arabicPeriod"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Add more payment options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AutoNum type="arabicPeriod"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Offer free shipping or delivery promotions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AutoNum type="arabicPeriod"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Add trust-building elements such as: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○"/>
            </a:pPr>
            <a:r>
              <a:rPr lang="id" sz="1300">
                <a:latin typeface="Arial"/>
                <a:ea typeface="Arial"/>
                <a:cs typeface="Arial"/>
                <a:sym typeface="Arial"/>
              </a:rPr>
              <a:t>Customer Reviews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○"/>
            </a:pPr>
            <a:r>
              <a:rPr lang="id" sz="1300">
                <a:latin typeface="Arial"/>
                <a:ea typeface="Arial"/>
                <a:cs typeface="Arial"/>
                <a:sym typeface="Arial"/>
              </a:rPr>
              <a:t>Secure payment badges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○"/>
            </a:pPr>
            <a:r>
              <a:rPr lang="id" sz="1300">
                <a:latin typeface="Arial"/>
                <a:ea typeface="Arial"/>
                <a:cs typeface="Arial"/>
                <a:sym typeface="Arial"/>
              </a:rPr>
              <a:t>A clear Delivery Estimates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d">
                <a:latin typeface="Arial"/>
                <a:ea typeface="Arial"/>
                <a:cs typeface="Arial"/>
                <a:sym typeface="Arial"/>
              </a:rPr>
              <a:t>If these improvements are implemented, The Conversion rate could increase significantly.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